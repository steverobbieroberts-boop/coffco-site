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Lead with the problem: premium hotel guests expect café-quality coffee; in-room machines don't deliver. CoffCo is the fix. Don't rush — let the headline land before speaking.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market gap is real and well-documented. The guest expectation vs. in-room reality gap is the starting point for everything CoffCo does. Emphasise: no existing COTS product meets the full CoffCo requirement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CoffCo is not just a better machine — it is a service platform. The proprietary consumable format and the cloud telemetry layer are the two longest-lead development items and the core of the commercial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Vacation Stables is the launch partner and design authority. No room modification required is a critical commercial enabler — zero installation cost. Emphasise the 8-year lifecycle commitment embedded in the SRS.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functional subsystems, seven physical elements. The key design insight: modular assembly-swap architecture means a field engineer can restore service in under 4 hours without opening the machine to its component level. This is Design for Reliability in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MTBF figure is derived with a 3× safety margin — not aspirational. The wireless maintenance function is the differentiator: it means faults are known before the guest notices them. Scale accumulation is the primary maintenance driver identified in the FMECA.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MVP scope was set by MoSCoW prioritisation. Note that the wireless transmission function is in scope for MVP — this is non-negotiable for the cloud ops demo. The chassis can be 3D printed but the guest-facing experience must be production-representative.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cloud platform and proprietary consumable are the two longest-lead development items. Investors need to understand: the machine generates revenue at the point of sale; the platform generates revenue, data, and switching costs across the 8-year lifecycle.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stakeholder has a different win condition. The design must satisfy all of them simultaneously — that is the systems engineering challenge. The SRS maps each stakeholder need to verifiable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requirements in total across functional, interface, non-functional, and performance categories. All are verifiable — each has a stated verification method. SRS 1.10 (dry-fire check) was identified late in development — a reminder that safety gaps can emerge after the main SRS is substantially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urgency: the consumable format and wireless protocol are the two open decisions that gate the pilot. Both need to be resolved in the next phase. Invite questions — particularly on the proprietary consumable commercial model and the cloud ops revenue 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371600"/>
            <a:ext cx="6858000" cy="6858000"/>
          </a:xfrm>
          <a:prstGeom prst="ellipse">
            <a:avLst/>
          </a:prstGeom>
          <a:solidFill>
            <a:srgbClr val="085C4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731520"/>
            <a:ext cx="5029200" cy="5029200"/>
          </a:xfrm>
          <a:prstGeom prst="ellipse">
            <a:avLst/>
          </a:prstGeom>
          <a:solidFill>
            <a:srgbClr val="0D9E7A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D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5669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Next-generation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in-room coffee.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2920" y="32918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4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systems-engineered platform designed for the Vacation Stables estate — and every premium hotel that follows.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Confidential  ·  COFFCO-PITCH-001  ·  School of Systems Engineering secondment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914400"/>
            <a:ext cx="1645920" cy="0"/>
          </a:xfrm>
          <a:prstGeom prst="line">
            <a:avLst/>
          </a:prstGeom>
          <a:noFill/>
          <a:ln w="25400">
            <a:solidFill>
              <a:srgbClr val="0D9E7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3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nobody has closed.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D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EDE8D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19019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Expectations unmet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04088" y="23774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travellers use specialty coffee daily. In-room machines — where they exist — consistently underdeliver on quality, temperature, and experience.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29000" y="11887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EDE8D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4173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30168" y="19019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Operationally burdensome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630168" y="23774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solutions require staff intervention, frequent breakdowns, and complex maintenance — adding cost and friction for hotel operations.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355080" y="11887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EDE8D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4173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56248" y="19019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play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556248" y="23774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product combines brew quality, IoT telemetry, and a proprietary consumable model into a scalable, data-generating service.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D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machine.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platform.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D4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CoffCo is a next-generation in-room coffee machine engineered from first principles — purpose-built for the Vacation Stables estate and designed to scale across premium hotel markets globally.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0" y="68580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6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3792" y="88696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87568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brew quality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87568" y="11064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Americano + hot frothed milk, 200–400ml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0" y="169164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6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792" y="189280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87568" y="1783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cloud telemetry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687568" y="2112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maintenance alerts, OTA firmware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029200" y="269748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6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289864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87568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consumable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687568" y="31181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format — the highest-leverage design decision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029200" y="370332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6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3904488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87568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365-day maintenance-free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687568" y="41239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MTBF 26,280 hrs · IEC 60335 · HACCP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D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Vacation Stables — a launch partner with reach.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Vacation Stables is an established international hotel brand targeting the premium business-travel segment — guests who expect specialty coffee and will notice when they don't get it.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EDE8D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7432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94360" y="3474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markets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8404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· EU · 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251460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EDE8D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88920" y="27432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2/day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743200" y="3474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brews per room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38404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8-year lifecycle target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251460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EDE8D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7432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5,840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892040" y="3474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brews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38404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machine lifecycle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49440" y="251460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EDE8D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86600" y="27432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040880" y="3474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modification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0" y="38404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power + desk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D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subsystems. One modular platform.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EDE8D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81912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0D9E7A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58191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SS-1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1792" y="1965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controls only — SRS 2.1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EDE8D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6432" y="1581912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0D9E7A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58191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SS-2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56432" y="1965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 control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56432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pressure, volume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EDE8D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91072" y="1581912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C47A1A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158191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SS-3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91072" y="1965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management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91072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store, consumable, drip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EDE8D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" y="3273552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C47A1A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327355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SS-4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1792" y="36576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management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" y="39959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110–240V · regional connectors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10896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EDE8D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56432" y="3273552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085C48"/>
          </a:solidFill>
          <a:ln/>
        </p:spPr>
      </p:sp>
      <p:sp>
        <p:nvSpPr>
          <p:cNvPr id="26" name="Text 24"/>
          <p:cNvSpPr/>
          <p:nvPr/>
        </p:nvSpPr>
        <p:spPr>
          <a:xfrm>
            <a:off x="3456432" y="327355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SS-5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56432" y="36576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comms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56432" y="39959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telemetry · wireless alerts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10896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EDE8D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91072" y="3273552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3A3028"/>
          </a:solidFill>
          <a:ln/>
        </p:spPr>
      </p:sp>
      <p:sp>
        <p:nvSpPr>
          <p:cNvPr id="31" name="Text 29"/>
          <p:cNvSpPr/>
          <p:nvPr/>
        </p:nvSpPr>
        <p:spPr>
          <a:xfrm>
            <a:off x="6291072" y="327355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SS-6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91072" y="36576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safety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91072" y="39959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Chassis · IEC 60335 · recycled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D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RELIABILITY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stay in service.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560320" cy="2560320"/>
          </a:xfrm>
          <a:prstGeom prst="roundRect">
            <a:avLst>
              <a:gd name="adj" fmla="val 4286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916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D9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26,280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9436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MTBF target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4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annual powered hours · SRS 3.9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560320" cy="2560320"/>
          </a:xfrm>
          <a:prstGeom prst="roundRect">
            <a:avLst>
              <a:gd name="adj" fmla="val 4286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6916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D9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365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42900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29718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Maintenance-free interval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3337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4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brews/day · SRS 3.3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508760"/>
            <a:ext cx="2560320" cy="2560320"/>
          </a:xfrm>
          <a:prstGeom prst="roundRect">
            <a:avLst>
              <a:gd name="adj" fmla="val 4286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6916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D9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≤4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26364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29718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on fault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3337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4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Assembly-swap model · ILS plan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25196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0D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level  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4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COTS parts with proven reliability data exceeding MTBF target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0D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level  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4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swap — field engineer restores service without disturbing adjacent elements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0D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level  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4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telemetry converts reactive maintenance to proactive — faults known before guests notice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D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demonstrating today.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demonstrate (MoSCoW must)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40233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Americano brewing — full cycle, 200–400ml variable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frothed milk — 60–90°C at dispensation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selection — 3-control panel, unaided operation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indication — icon/colour only, no text dependency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maintenance transmission — live alert to cloud ops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 ≤3 minutes from initiation to beverage ready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37760" y="1261872"/>
            <a:ext cx="3840480" cy="3520440"/>
          </a:xfrm>
          <a:prstGeom prst="roundRect">
            <a:avLst>
              <a:gd name="adj" fmla="val 3117"/>
            </a:avLst>
          </a:prstGeom>
          <a:solidFill>
            <a:srgbClr val="EDE8D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MVP is built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5508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printed / CNC machined — acceptable for MVP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20640" y="22311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PCBA: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55080" y="2231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contract manufacture to CoffCo spec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0" y="2633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COTS universal module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3035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COTS module — technology TBD (TD-06)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34381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34381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Bespoke firmware — CoffCo IP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Consumable: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arrangement — proprietary sealed format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D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 is the product.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is the business.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2331720"/>
            <a:ext cx="2011680" cy="2514600"/>
          </a:xfrm>
          <a:prstGeom prst="roundRect">
            <a:avLst>
              <a:gd name="adj" fmla="val 4545"/>
            </a:avLst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487168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6072" y="297180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maintenance alerts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6072" y="3520440"/>
            <a:ext cx="17190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D4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fault detection transmitted to CoffCo cloud ops. Corrective maintenance dispatched before the guest notices.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606040" y="2331720"/>
            <a:ext cx="2011680" cy="2514600"/>
          </a:xfrm>
          <a:prstGeom prst="roundRect">
            <a:avLst>
              <a:gd name="adj" fmla="val 4545"/>
            </a:avLst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208" y="2487168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70632" y="297180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770632" y="3520440"/>
            <a:ext cx="17190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D4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accumulation modelled from brew-cycle telemetry. Service scheduled before threshold breach — not after failure.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800600" y="2331720"/>
            <a:ext cx="2011680" cy="2514600"/>
          </a:xfrm>
          <a:prstGeom prst="roundRect">
            <a:avLst>
              <a:gd name="adj" fmla="val 4545"/>
            </a:avLst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2487168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65192" y="297180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firmware updates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965192" y="3520440"/>
            <a:ext cx="17190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D4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delivered over-the-air. No engineer visit required for software fixes or feature additions.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995160" y="2331720"/>
            <a:ext cx="2011680" cy="2514600"/>
          </a:xfrm>
          <a:prstGeom prst="roundRect">
            <a:avLst>
              <a:gd name="adj" fmla="val 4545"/>
            </a:avLst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328" y="2487168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59752" y="297180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analytics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7159752" y="3520440"/>
            <a:ext cx="17190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D4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data, brew patterns, and consumable demand rates aggregated across the Vacation Stables estate in real time.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D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for every person who touches it.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321040" cy="841248"/>
          </a:xfrm>
          <a:prstGeom prst="roundRect">
            <a:avLst>
              <a:gd name="adj" fmla="val 8696"/>
            </a:avLst>
          </a:prstGeom>
          <a:solidFill>
            <a:srgbClr val="EDE8D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7276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444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guests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61872" y="1773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429000" y="1554480"/>
            <a:ext cx="0" cy="502920"/>
          </a:xfrm>
          <a:prstGeom prst="line">
            <a:avLst/>
          </a:prstGeom>
          <a:noFill/>
          <a:ln w="19050">
            <a:solidFill>
              <a:srgbClr val="0D9E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11880" y="1490472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Café-quality coffee on demand, unaided, in under 3 minutes. No manual needed.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2286000"/>
            <a:ext cx="8321040" cy="841248"/>
          </a:xfrm>
          <a:prstGeom prst="roundRect">
            <a:avLst>
              <a:gd name="adj" fmla="val 8696"/>
            </a:avLst>
          </a:prstGeom>
          <a:solidFill>
            <a:srgbClr val="EDE8D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48716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2359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261872" y="2688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429000" y="2468880"/>
            <a:ext cx="0" cy="502920"/>
          </a:xfrm>
          <a:prstGeom prst="line">
            <a:avLst/>
          </a:prstGeom>
          <a:noFill/>
          <a:ln w="19050">
            <a:solidFill>
              <a:srgbClr val="C47A1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11880" y="2404872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Tool-free consumable restocking. 15-min onboarding. Status LEDs show exactly what needs doing.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" y="3200400"/>
            <a:ext cx="8321040" cy="841248"/>
          </a:xfrm>
          <a:prstGeom prst="roundRect">
            <a:avLst>
              <a:gd name="adj" fmla="val 8696"/>
            </a:avLst>
          </a:prstGeom>
          <a:solidFill>
            <a:srgbClr val="EDE8D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40156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61872" y="32735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Vacation Stables mgmt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261872" y="36027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429000" y="3383280"/>
            <a:ext cx="0" cy="502920"/>
          </a:xfrm>
          <a:prstGeom prst="line">
            <a:avLst/>
          </a:prstGeom>
          <a:noFill/>
          <a:ln w="19050">
            <a:solidFill>
              <a:srgbClr val="085C4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611880" y="3319272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uplift, sustainability compliance, zero maintenance burden, fleet visibility in real time.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02920" y="4114800"/>
            <a:ext cx="8321040" cy="841248"/>
          </a:xfrm>
          <a:prstGeom prst="roundRect">
            <a:avLst>
              <a:gd name="adj" fmla="val 8696"/>
            </a:avLst>
          </a:prstGeom>
          <a:solidFill>
            <a:srgbClr val="EDE8D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315968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61872" y="41879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CoffCo / Investors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261872" y="45171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owner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429000" y="4297680"/>
            <a:ext cx="0" cy="502920"/>
          </a:xfrm>
          <a:prstGeom prst="line">
            <a:avLst/>
          </a:prstGeom>
          <a:noFill/>
          <a:ln w="19050">
            <a:solidFill>
              <a:srgbClr val="3A3028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3611880" y="4233672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consumable recurring revenue, platform data asset, and 8-year per-unit lifecycle.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D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Verified, traceable, testable.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023360" cy="493776"/>
          </a:xfrm>
          <a:prstGeom prst="roundRect">
            <a:avLst>
              <a:gd name="adj" fmla="val 12963"/>
            </a:avLst>
          </a:prstGeom>
          <a:solidFill>
            <a:srgbClr val="EDE8DF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481328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E0F5EE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48132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1.1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46304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Dispense an americano coffee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023360" cy="493776"/>
          </a:xfrm>
          <a:prstGeom prst="roundRect">
            <a:avLst>
              <a:gd name="adj" fmla="val 12963"/>
            </a:avLst>
          </a:prstGeom>
          <a:solidFill>
            <a:srgbClr val="EDE8DF"/>
          </a:solidFill>
          <a:ln/>
        </p:spPr>
      </p:sp>
      <p:sp>
        <p:nvSpPr>
          <p:cNvPr id="9" name="Shape 7"/>
          <p:cNvSpPr/>
          <p:nvPr/>
        </p:nvSpPr>
        <p:spPr>
          <a:xfrm>
            <a:off x="4864608" y="1481328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E0F5EE"/>
          </a:solidFill>
          <a:ln/>
        </p:spPr>
      </p:sp>
      <p:sp>
        <p:nvSpPr>
          <p:cNvPr id="10" name="Text 8"/>
          <p:cNvSpPr/>
          <p:nvPr/>
        </p:nvSpPr>
        <p:spPr>
          <a:xfrm>
            <a:off x="4864608" y="148132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1.2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71500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hot frothed milk 60–90°C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1975104"/>
            <a:ext cx="4023360" cy="493776"/>
          </a:xfrm>
          <a:prstGeom prst="roundRect">
            <a:avLst>
              <a:gd name="adj" fmla="val 12963"/>
            </a:avLst>
          </a:prstGeom>
          <a:solidFill>
            <a:srgbClr val="EDE8DF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084832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E0F5EE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" y="208483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1.3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463040" y="20665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selection 200–400ml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1975104"/>
            <a:ext cx="4023360" cy="493776"/>
          </a:xfrm>
          <a:prstGeom prst="roundRect">
            <a:avLst>
              <a:gd name="adj" fmla="val 12963"/>
            </a:avLst>
          </a:prstGeom>
          <a:solidFill>
            <a:srgbClr val="EDE8DF"/>
          </a:solidFill>
          <a:ln/>
        </p:spPr>
      </p:sp>
      <p:sp>
        <p:nvSpPr>
          <p:cNvPr id="17" name="Shape 15"/>
          <p:cNvSpPr/>
          <p:nvPr/>
        </p:nvSpPr>
        <p:spPr>
          <a:xfrm>
            <a:off x="4864608" y="2084832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E0F5EE"/>
          </a:solidFill>
          <a:ln/>
        </p:spPr>
      </p:sp>
      <p:sp>
        <p:nvSpPr>
          <p:cNvPr id="18" name="Text 16"/>
          <p:cNvSpPr/>
          <p:nvPr/>
        </p:nvSpPr>
        <p:spPr>
          <a:xfrm>
            <a:off x="4864608" y="208483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1.7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715000" y="20665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indication — icon/colour only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2578608"/>
            <a:ext cx="4023360" cy="493776"/>
          </a:xfrm>
          <a:prstGeom prst="roundRect">
            <a:avLst>
              <a:gd name="adj" fmla="val 12963"/>
            </a:avLst>
          </a:prstGeom>
          <a:solidFill>
            <a:srgbClr val="EDE8DF"/>
          </a:solidFill>
          <a:ln/>
        </p:spPr>
      </p:sp>
      <p:sp>
        <p:nvSpPr>
          <p:cNvPr id="21" name="Shape 19"/>
          <p:cNvSpPr/>
          <p:nvPr/>
        </p:nvSpPr>
        <p:spPr>
          <a:xfrm>
            <a:off x="612648" y="2688336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E0F5EE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" y="26883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1.10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63040" y="26700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Dry-fire prevention — consumable check before brew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578608"/>
            <a:ext cx="4023360" cy="493776"/>
          </a:xfrm>
          <a:prstGeom prst="roundRect">
            <a:avLst>
              <a:gd name="adj" fmla="val 12963"/>
            </a:avLst>
          </a:prstGeom>
          <a:solidFill>
            <a:srgbClr val="EDE8DF"/>
          </a:solidFill>
          <a:ln/>
        </p:spPr>
      </p:sp>
      <p:sp>
        <p:nvSpPr>
          <p:cNvPr id="25" name="Shape 23"/>
          <p:cNvSpPr/>
          <p:nvPr/>
        </p:nvSpPr>
        <p:spPr>
          <a:xfrm>
            <a:off x="4864608" y="2688336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E0F5EE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26883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2.1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15000" y="26700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Operable by first-time user without instruction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3182112"/>
            <a:ext cx="4023360" cy="493776"/>
          </a:xfrm>
          <a:prstGeom prst="roundRect">
            <a:avLst>
              <a:gd name="adj" fmla="val 12963"/>
            </a:avLst>
          </a:prstGeom>
          <a:solidFill>
            <a:srgbClr val="EDE8DF"/>
          </a:solidFill>
          <a:ln/>
        </p:spPr>
      </p:sp>
      <p:sp>
        <p:nvSpPr>
          <p:cNvPr id="29" name="Shape 27"/>
          <p:cNvSpPr/>
          <p:nvPr/>
        </p:nvSpPr>
        <p:spPr>
          <a:xfrm>
            <a:off x="612648" y="3291840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E0F5EE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" y="32918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3.1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463040" y="32735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cycle within 3 minutes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3182112"/>
            <a:ext cx="4023360" cy="493776"/>
          </a:xfrm>
          <a:prstGeom prst="roundRect">
            <a:avLst>
              <a:gd name="adj" fmla="val 12963"/>
            </a:avLst>
          </a:prstGeom>
          <a:solidFill>
            <a:srgbClr val="EDE8DF"/>
          </a:solidFill>
          <a:ln/>
        </p:spPr>
      </p:sp>
      <p:sp>
        <p:nvSpPr>
          <p:cNvPr id="33" name="Shape 31"/>
          <p:cNvSpPr/>
          <p:nvPr/>
        </p:nvSpPr>
        <p:spPr>
          <a:xfrm>
            <a:off x="4864608" y="3291840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E0F5EE"/>
          </a:solidFill>
          <a:ln/>
        </p:spPr>
      </p:sp>
      <p:sp>
        <p:nvSpPr>
          <p:cNvPr id="34" name="Text 32"/>
          <p:cNvSpPr/>
          <p:nvPr/>
        </p:nvSpPr>
        <p:spPr>
          <a:xfrm>
            <a:off x="4864608" y="32918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3.3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715000" y="32735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Maintenance-free interval ≥365 days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3785616"/>
            <a:ext cx="4023360" cy="493776"/>
          </a:xfrm>
          <a:prstGeom prst="roundRect">
            <a:avLst>
              <a:gd name="adj" fmla="val 12963"/>
            </a:avLst>
          </a:prstGeom>
          <a:solidFill>
            <a:srgbClr val="EDE8DF"/>
          </a:solidFill>
          <a:ln/>
        </p:spPr>
      </p:sp>
      <p:sp>
        <p:nvSpPr>
          <p:cNvPr id="37" name="Shape 35"/>
          <p:cNvSpPr/>
          <p:nvPr/>
        </p:nvSpPr>
        <p:spPr>
          <a:xfrm>
            <a:off x="612648" y="3895344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E0F5EE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" y="389534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3.9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463040" y="38770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MTBF ≥26,280 hours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54880" y="3785616"/>
            <a:ext cx="4023360" cy="493776"/>
          </a:xfrm>
          <a:prstGeom prst="roundRect">
            <a:avLst>
              <a:gd name="adj" fmla="val 12963"/>
            </a:avLst>
          </a:prstGeom>
          <a:solidFill>
            <a:srgbClr val="EDE8DF"/>
          </a:solidFill>
          <a:ln/>
        </p:spPr>
      </p:sp>
      <p:sp>
        <p:nvSpPr>
          <p:cNvPr id="41" name="Shape 39"/>
          <p:cNvSpPr/>
          <p:nvPr/>
        </p:nvSpPr>
        <p:spPr>
          <a:xfrm>
            <a:off x="4864608" y="3895344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E0F5EE"/>
          </a:solidFill>
          <a:ln/>
        </p:spPr>
      </p:sp>
      <p:sp>
        <p:nvSpPr>
          <p:cNvPr id="42" name="Text 40"/>
          <p:cNvSpPr/>
          <p:nvPr/>
        </p:nvSpPr>
        <p:spPr>
          <a:xfrm>
            <a:off x="4864608" y="389534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1.9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715000" y="38770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maintenance status transmission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02920" y="4389120"/>
            <a:ext cx="4023360" cy="493776"/>
          </a:xfrm>
          <a:prstGeom prst="roundRect">
            <a:avLst>
              <a:gd name="adj" fmla="val 12963"/>
            </a:avLst>
          </a:prstGeom>
          <a:solidFill>
            <a:srgbClr val="EDE8DF"/>
          </a:solidFill>
          <a:ln/>
        </p:spPr>
      </p:sp>
      <p:sp>
        <p:nvSpPr>
          <p:cNvPr id="45" name="Shape 43"/>
          <p:cNvSpPr/>
          <p:nvPr/>
        </p:nvSpPr>
        <p:spPr>
          <a:xfrm>
            <a:off x="612648" y="4498848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E0F5EE"/>
          </a:solidFill>
          <a:ln/>
        </p:spPr>
      </p:sp>
      <p:sp>
        <p:nvSpPr>
          <p:cNvPr id="46" name="Text 44"/>
          <p:cNvSpPr/>
          <p:nvPr/>
        </p:nvSpPr>
        <p:spPr>
          <a:xfrm>
            <a:off x="612648" y="449884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3.4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463040" y="4480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≥50% recycled material content by mass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754880" y="4389120"/>
            <a:ext cx="4023360" cy="493776"/>
          </a:xfrm>
          <a:prstGeom prst="roundRect">
            <a:avLst>
              <a:gd name="adj" fmla="val 12963"/>
            </a:avLst>
          </a:prstGeom>
          <a:solidFill>
            <a:srgbClr val="EDE8DF"/>
          </a:solidFill>
          <a:ln/>
        </p:spPr>
      </p:sp>
      <p:sp>
        <p:nvSpPr>
          <p:cNvPr id="49" name="Shape 47"/>
          <p:cNvSpPr/>
          <p:nvPr/>
        </p:nvSpPr>
        <p:spPr>
          <a:xfrm>
            <a:off x="4864608" y="4498848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E0F5EE"/>
          </a:solidFill>
          <a:ln/>
        </p:spPr>
      </p:sp>
      <p:sp>
        <p:nvSpPr>
          <p:cNvPr id="50" name="Text 48"/>
          <p:cNvSpPr/>
          <p:nvPr/>
        </p:nvSpPr>
        <p:spPr>
          <a:xfrm>
            <a:off x="4864608" y="449884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3.5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715000" y="4480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energy efficiency rating A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4864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SRS: COFFCO-SRS-001  ·  30 functional and non-functional requirements  ·  all fully traceable to stakeholder needs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097280"/>
            <a:ext cx="5943600" cy="5943600"/>
          </a:xfrm>
          <a:prstGeom prst="ellipse">
            <a:avLst/>
          </a:prstGeom>
          <a:solidFill>
            <a:srgbClr val="085C4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D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pilot.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663440" y="594360"/>
            <a:ext cx="4114800" cy="1024128"/>
          </a:xfrm>
          <a:prstGeom prst="roundRect">
            <a:avLst>
              <a:gd name="adj" fmla="val 8929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773168" y="795528"/>
            <a:ext cx="475488" cy="475488"/>
          </a:xfrm>
          <a:prstGeom prst="ellipse">
            <a:avLst/>
          </a:prstGeom>
          <a:solidFill>
            <a:srgbClr val="0D9E7A"/>
          </a:solidFill>
          <a:ln/>
        </p:spPr>
      </p:sp>
      <p:sp>
        <p:nvSpPr>
          <p:cNvPr id="7" name="Text 5"/>
          <p:cNvSpPr/>
          <p:nvPr/>
        </p:nvSpPr>
        <p:spPr>
          <a:xfrm>
            <a:off x="4773168" y="795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49240" y="685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acceptance testing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49240" y="10332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D4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structured test matrix against SRS — brew quality, cycle time, wireless, unaided operation.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709928"/>
            <a:ext cx="4114800" cy="1024128"/>
          </a:xfrm>
          <a:prstGeom prst="roundRect">
            <a:avLst>
              <a:gd name="adj" fmla="val 8929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773168" y="1911096"/>
            <a:ext cx="475488" cy="475488"/>
          </a:xfrm>
          <a:prstGeom prst="ellipse">
            <a:avLst/>
          </a:prstGeom>
          <a:solidFill>
            <a:srgbClr val="0D9E7A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1911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8013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Vacation Stables pilot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9240" y="2148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D4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agreed pilot rooms. Commission PMS integration and cloud ops monitoring.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2825496"/>
            <a:ext cx="4114800" cy="1024128"/>
          </a:xfrm>
          <a:prstGeom prst="roundRect">
            <a:avLst>
              <a:gd name="adj" fmla="val 8929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773168" y="3026664"/>
            <a:ext cx="475488" cy="475488"/>
          </a:xfrm>
          <a:prstGeom prst="ellipse">
            <a:avLst/>
          </a:prstGeom>
          <a:solidFill>
            <a:srgbClr val="0D9E7A"/>
          </a:solidFill>
          <a:ln/>
        </p:spPr>
      </p:sp>
      <p:sp>
        <p:nvSpPr>
          <p:cNvPr id="17" name="Text 15"/>
          <p:cNvSpPr/>
          <p:nvPr/>
        </p:nvSpPr>
        <p:spPr>
          <a:xfrm>
            <a:off x="4773168" y="3026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29169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Consumable format decision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49240" y="32644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D4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proprietary consumable trade study — the highest-leverage and longest-lead design decision.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3941064"/>
            <a:ext cx="4114800" cy="1024128"/>
          </a:xfrm>
          <a:prstGeom prst="roundRect">
            <a:avLst>
              <a:gd name="adj" fmla="val 8929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773168" y="4142232"/>
            <a:ext cx="475488" cy="475488"/>
          </a:xfrm>
          <a:prstGeom prst="ellipse">
            <a:avLst/>
          </a:prstGeom>
          <a:solidFill>
            <a:srgbClr val="0D9E7A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4142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40325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protocol lock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9240" y="437997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D4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TD-06 — Wi-Fi, BLE, or Zigbee — against Vacation Stables IT infrastructure confirmation.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·  COFFCO-PITCH-001  ·  Investor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CoffCo — Investor MVP Deck</dc:title>
  <dc:subject>Next-generation in-room hotel coffee machine — Vacation Stables partnership</dc:subject>
  <dc:creator>CoffCo / School of Systems Engineering</dc:creator>
  <cp:lastModifiedBy>CoffCo / School of Systems Engineering</cp:lastModifiedBy>
  <cp:revision>1</cp:revision>
  <dcterms:created xsi:type="dcterms:W3CDTF">2026-06-23T05:59:38Z</dcterms:created>
  <dcterms:modified xsi:type="dcterms:W3CDTF">2026-06-23T05:59:38Z</dcterms:modified>
</cp:coreProperties>
</file>